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0" d="100"/>
          <a:sy n="140" d="100"/>
        </p:scale>
        <p:origin x="7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170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36576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5102352"/>
            <a:ext cx="8979408" cy="36576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92608"/>
            <a:ext cx="4389120" cy="2743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A8C8E0"/>
                </a:solidFill>
              </a:rPr>
              <a:t>CSE 309-4 Web Application &amp; Internet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MediSecond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AI-Driven Medical Second Opinion System</a:t>
            </a:r>
            <a:endParaRPr lang="en-US" sz="2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EC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Diagnostic Validation and Clinical Decision Support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EC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Developing Healthcare Infrastructures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8321040" cy="1828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7004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A8C8E0"/>
                </a:solidFill>
              </a:rPr>
              <a:t>Research &amp; Development Team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8DCF0"/>
                </a:solidFill>
              </a:rPr>
              <a:t>Sajib Bin Mamun (Course Instructor), Nur Akib Al Muid (2120272)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8211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8DCF0"/>
                </a:solidFill>
              </a:rPr>
              <a:t>Department of Computer Science &amp; Engineering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381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CF0"/>
                </a:solidFill>
              </a:rPr>
              <a:t>Independent University, Bangladesh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8321040" cy="18288"/>
          </a:xfrm>
          <a:prstGeom prst="rect">
            <a:avLst/>
          </a:prstGeom>
          <a:solidFill>
            <a:srgbClr val="2A4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95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C8E0"/>
                </a:solidFill>
              </a:rPr>
              <a:t>Keywords: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89888" y="389534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FC8"/>
                </a:solidFill>
              </a:rPr>
              <a:t>Clinical decision support  ·  Telemedicine  ·  AI-assisted triage  ·  Diagnostic validation  ·  Healthcare equity  ·  Role-based access control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E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974336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4A6A88"/>
                </a:solidFill>
              </a:rPr>
              <a:t>© 2026 MediSecond Research Group  ·  All Rights Reserved  ·  Not a substitute for in-person clinical care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2C5282"/>
                </a:solidFill>
              </a:rPr>
              <a:t>ABSTRACT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" cy="356616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1" y="1298448"/>
            <a:ext cx="7326957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Patients residing in low-to-middle-income countries face a structural asymmetry: population growth consistently outpaces the deployment of trained medical specialists. This disparity translates directly into delayed diagnoses, unvalidated treatment pathways, and preventable clinical deterioration.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395728"/>
            <a:ext cx="705916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This paper presents MediSecond, a secure cloud-based platform engineered to bridge that gap. The system couples an AI-assisted triage engine with a curated network of board-certified specialists, enabling asynchronous case submission, structured expert review, and evidence-grounded second opinions delivered within 48 hours.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3493008"/>
            <a:ext cx="705916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Three-tier role architecture — patient, physician, administrator — enforces strict data segregation through role-based access control. End-to-end encryption, HIPAA-aware data handling, and ISO 27001-aligned policies underpin the security model. Validation against two clinical case studies confirms diagnostic alignment with current ACC/AHA and WHO guidelines.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2 / 14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2C5282"/>
                </a:solidFill>
              </a:rPr>
              <a:t>INTRODUCTION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2651760" cy="35844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52144"/>
            <a:ext cx="2651760" cy="73152"/>
          </a:xfrm>
          <a:prstGeom prst="rect">
            <a:avLst/>
          </a:prstGeom>
          <a:solidFill>
            <a:srgbClr val="9B2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25296"/>
            <a:ext cx="2651760" cy="950976"/>
          </a:xfrm>
          <a:prstGeom prst="rect">
            <a:avLst/>
          </a:prstGeom>
          <a:solidFill>
            <a:srgbClr val="FED7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9B23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B2335"/>
                </a:solidFill>
              </a:rPr>
              <a:t>[WHO, 2023]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2651760" cy="9144"/>
          </a:xfrm>
          <a:prstGeom prst="rect">
            <a:avLst/>
          </a:prstGeom>
          <a:solidFill>
            <a:srgbClr val="9B2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Global Specialist Deficit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" y="2578608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Nearly half the world's population inhabits regions where the specialist-to-patient ratio falls below one per thousand. Rural zones in Sub-Saharan Africa record as few as four physicians per 100,000 residents.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128" y="1152144"/>
            <a:ext cx="2651760" cy="35844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10128" y="1152144"/>
            <a:ext cx="2651760" cy="73152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10128" y="1225296"/>
            <a:ext cx="2651760" cy="950976"/>
          </a:xfrm>
          <a:prstGeom prst="rect">
            <a:avLst/>
          </a:prstGeom>
          <a:solidFill>
            <a:srgbClr val="FEF0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26187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310128" y="186537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05621"/>
                </a:solidFill>
              </a:rPr>
              <a:t>[Singh et al., 2021]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10128" y="2176272"/>
            <a:ext cx="2651760" cy="9144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56432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Diagnostic Error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56432" y="2578608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One-third of patients in resource-constrained settings receive inaccurate or incomplete diagnoses. Without specialist validation, these errors persist through treatment, often worsening clinical outcomes over time.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3056" y="1152144"/>
            <a:ext cx="2651760" cy="35844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63056" y="1152144"/>
            <a:ext cx="2651760" cy="7315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63056" y="1225296"/>
            <a:ext cx="2651760" cy="950976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63056" y="126187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6–18 mo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6163056" y="186537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C5282"/>
                </a:solidFill>
              </a:rPr>
              <a:t>[Mash et al., 2022]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63056" y="2176272"/>
            <a:ext cx="2651760" cy="9144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Referral Waiting Periods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578608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Specialist appointment queues in developing healthcare systems routinely extend six to eighteen months. Time-sensitive conditions such as cardiac valvulopathies and demyelinating disorders deteriorate during these waits.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773168"/>
            <a:ext cx="8412480" cy="109728"/>
          </a:xfrm>
          <a:prstGeom prst="rect">
            <a:avLst/>
          </a:prstGeom>
          <a:solidFill>
            <a:srgbClr val="EB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773168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C5282"/>
                </a:solidFill>
              </a:rPr>
              <a:t>Motivation: No patient's clinical outcome should be determined by geography or economic circumstance.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3 / 14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7EC8E3"/>
                </a:solidFill>
              </a:rPr>
              <a:t>RELATED WORK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&amp; Research Gap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2651760" cy="162763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651760" cy="5486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" y="126187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7EC8E3"/>
                </a:solidFill>
              </a:rPr>
              <a:t>[Topol, 2019]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5216" y="14264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Deep Medicine — AI in Clinical Practice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5216" y="1700784"/>
            <a:ext cx="2395728" cy="9144"/>
          </a:xfrm>
          <a:prstGeom prst="rect">
            <a:avLst/>
          </a:prstGeom>
          <a:solidFill>
            <a:srgbClr val="7EC8E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" y="1755648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EC8E3"/>
                </a:solidFill>
              </a:rPr>
              <a:t>Research Gap Addressed: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85216" y="1920240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0C4D8"/>
                </a:solidFill>
              </a:rPr>
              <a:t>Topol demonstrated deep learning's diagnostic potential but confined analysis to high-resource hospital contexts. MediSecond extends this to asynchronous, low-bandwidth environments.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10128" y="1170432"/>
            <a:ext cx="2651760" cy="162763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0128" y="1170432"/>
            <a:ext cx="2651760" cy="54864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126187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6AD55"/>
                </a:solidFill>
              </a:rPr>
              <a:t>[Wachter, 2015]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38144" y="14264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Digital Doctor — Telemedicine Frameworks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38144" y="1700784"/>
            <a:ext cx="2395728" cy="9144"/>
          </a:xfrm>
          <a:prstGeom prst="rect">
            <a:avLst/>
          </a:prstGeom>
          <a:solidFill>
            <a:srgbClr val="F6AD5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38144" y="1755648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6AD55"/>
                </a:solidFill>
              </a:rPr>
              <a:t>Research Gap Addressed: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38144" y="1920240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0C4D8"/>
                </a:solidFill>
              </a:rPr>
              <a:t>Wachter's synchronous video-consultation model requires stable infrastructure. Our asynchronous architecture accommodates intermittent connectivity common in developing regions.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1170432"/>
            <a:ext cx="2651760" cy="162763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63056" y="1170432"/>
            <a:ext cx="2651760" cy="54864"/>
          </a:xfrm>
          <a:prstGeom prst="rect">
            <a:avLst/>
          </a:prstGeom>
          <a:solidFill>
            <a:srgbClr val="9AE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91072" y="126187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9AE6B4"/>
                </a:solidFill>
              </a:rPr>
              <a:t>[Mosa et al., 2012]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91072" y="14264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mHealth Systematic Review — WHO Developing Regions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91072" y="1700784"/>
            <a:ext cx="2395728" cy="9144"/>
          </a:xfrm>
          <a:prstGeom prst="rect">
            <a:avLst/>
          </a:prstGeom>
          <a:solidFill>
            <a:srgbClr val="9AE6B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91072" y="1755648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AE6B4"/>
                </a:solidFill>
              </a:rPr>
              <a:t>Research Gap Addressed: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91072" y="1920240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0C4D8"/>
                </a:solidFill>
              </a:rPr>
              <a:t>Identified critical gaps in specialist access but proposed no scalable second-opinion mechanism. MediSecond operationalises their recommendations through a structured case workflow.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889504"/>
            <a:ext cx="2651760" cy="162763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2889504"/>
            <a:ext cx="2651760" cy="54864"/>
          </a:xfrm>
          <a:prstGeom prst="rect">
            <a:avLst/>
          </a:prstGeom>
          <a:solidFill>
            <a:srgbClr val="FEB2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5216" y="298094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EB2B2"/>
                </a:solidFill>
              </a:rPr>
              <a:t>[Esteva et al., 2017]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314553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Dermatologist-Level AI Classification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85216" y="3419856"/>
            <a:ext cx="2395728" cy="9144"/>
          </a:xfrm>
          <a:prstGeom prst="rect">
            <a:avLst/>
          </a:prstGeom>
          <a:solidFill>
            <a:srgbClr val="FEB2B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5216" y="3474720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EB2B2"/>
                </a:solidFill>
              </a:rPr>
              <a:t>Research Gap Addressed: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85216" y="3639312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0C4D8"/>
                </a:solidFill>
              </a:rPr>
              <a:t>Achieved specialist-level image classification but offered no multi-specialty coverage or physician-patient interaction layer. MediSecond introduces structured dialogue alongside AI triage.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10128" y="2889504"/>
            <a:ext cx="2651760" cy="162763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310128" y="2889504"/>
            <a:ext cx="2651760" cy="54864"/>
          </a:xfrm>
          <a:prstGeom prst="rect">
            <a:avLst/>
          </a:prstGeom>
          <a:solidFill>
            <a:srgbClr val="B79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38144" y="298094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B794F4"/>
                </a:solidFill>
              </a:rPr>
              <a:t>[Schiff et al., 2022]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38144" y="314553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Diagnostic Error Reduction — Systematic Review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438144" y="3419856"/>
            <a:ext cx="2395728" cy="9144"/>
          </a:xfrm>
          <a:prstGeom prst="rect">
            <a:avLst/>
          </a:prstGeom>
          <a:solidFill>
            <a:srgbClr val="B794F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38144" y="3474720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794F4"/>
                </a:solidFill>
              </a:rPr>
              <a:t>Research Gap Addressed: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438144" y="3639312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0C4D8"/>
                </a:solidFill>
              </a:rPr>
              <a:t>Confirmed second opinions reduce error rates by up to 34 %. No web-based platform existed that operationalised this finding for low-resource settings at the time of publication.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63056" y="2889504"/>
            <a:ext cx="2651760" cy="162763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63056" y="2889504"/>
            <a:ext cx="2651760" cy="54864"/>
          </a:xfrm>
          <a:prstGeom prst="rect">
            <a:avLst/>
          </a:prstGeom>
          <a:solidFill>
            <a:srgbClr val="81E6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91072" y="298094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81E6D9"/>
                </a:solidFill>
              </a:rPr>
              <a:t>[WHO Digital Health, 2023]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91072" y="314553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Global Strategy on Digital Health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291072" y="3419856"/>
            <a:ext cx="2395728" cy="9144"/>
          </a:xfrm>
          <a:prstGeom prst="rect">
            <a:avLst/>
          </a:prstGeom>
          <a:solidFill>
            <a:srgbClr val="81E6D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91072" y="3474720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1E6D9"/>
                </a:solidFill>
              </a:rPr>
              <a:t>Research Gap Addressed: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91072" y="3639312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0C4D8"/>
                </a:solidFill>
              </a:rPr>
              <a:t>WHO's strategy calls for AI-assisted diagnostic support tools tailored to low-to-middle-income countries. MediSecond is a direct implementation response to this policy directive.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4 / 14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2C5282"/>
                </a:solidFill>
              </a:rPr>
              <a:t>PROJECT SCOPE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Definition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4041648" cy="36027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52144"/>
            <a:ext cx="4041648" cy="45720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4041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20" dirty="0">
                <a:solidFill>
                  <a:srgbClr val="FFFFFF"/>
                </a:solidFill>
              </a:rPr>
              <a:t>✓   IN SCOPE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792224"/>
            <a:ext cx="676656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2846" y="1792224"/>
            <a:ext cx="709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6749"/>
                </a:solidFill>
              </a:rPr>
              <a:t>FR-01 – FR-18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298448" y="1737360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Multi-role web platform with patient, physician, and administrator personas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139696"/>
            <a:ext cx="676656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3069" y="2139696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6749"/>
                </a:solidFill>
              </a:rPr>
              <a:t>AI Triage Engine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98448" y="208483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Intelligent case prioritisation, specialty matching, and urgency flagging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487168"/>
            <a:ext cx="676656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3447" y="2487168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6749"/>
                </a:solidFill>
              </a:rPr>
              <a:t>Case Submission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98448" y="243230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Structured form with attachment support (PDF, JPEG) and specialty selection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676656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6749"/>
                </a:solidFill>
              </a:rPr>
              <a:t>Specialist Portal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98448" y="277977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Threaded comment system, clinical opinion posting, and reply threading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182112"/>
            <a:ext cx="676656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182112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6749"/>
                </a:solidFill>
              </a:rPr>
              <a:t>Notifications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98448" y="3127248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Real-time bell-alert system dispatched on case events and responses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529584"/>
            <a:ext cx="676656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2846" y="3529584"/>
            <a:ext cx="7024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6749"/>
                </a:solidFill>
              </a:rPr>
              <a:t>Security Layer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298448" y="3474720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RBAC, end-to-end encryption, HIPAA-aware and ISO 27001-aligned policies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877056"/>
            <a:ext cx="676656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877056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6749"/>
                </a:solidFill>
              </a:rPr>
              <a:t>Admin Panel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298448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Full content moderation, credential verification, and usage analytics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224528"/>
            <a:ext cx="676656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4224528"/>
            <a:ext cx="1014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6749"/>
                </a:solidFill>
              </a:rPr>
              <a:t>Case Management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298448" y="416966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Status tracking (Pending → Responded → Closed), search and filtering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1728" y="1152144"/>
            <a:ext cx="4187952" cy="36027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81728" y="1152144"/>
            <a:ext cx="4187952" cy="457200"/>
          </a:xfrm>
          <a:prstGeom prst="rect">
            <a:avLst/>
          </a:prstGeom>
          <a:solidFill>
            <a:srgbClr val="9B2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81728" y="1152144"/>
            <a:ext cx="4187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20" dirty="0">
                <a:solidFill>
                  <a:srgbClr val="FFFFFF"/>
                </a:solidFill>
              </a:rPr>
              <a:t>✗   OUT OF SCOPE  (v1.0)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73168" y="1792224"/>
            <a:ext cx="694944" cy="201168"/>
          </a:xfrm>
          <a:prstGeom prst="rect">
            <a:avLst/>
          </a:prstGeom>
          <a:solidFill>
            <a:srgbClr val="FED7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73168" y="1792224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2335"/>
                </a:solidFill>
              </a:rPr>
              <a:t>Live Video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541264" y="1737360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Real-time audio/video telemedicine consultation sessions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73168" y="2139696"/>
            <a:ext cx="694944" cy="201168"/>
          </a:xfrm>
          <a:prstGeom prst="rect">
            <a:avLst/>
          </a:prstGeom>
          <a:solidFill>
            <a:srgbClr val="FED7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73168" y="2139696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2335"/>
                </a:solidFill>
              </a:rPr>
              <a:t>EHR Sync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541264" y="2084832"/>
            <a:ext cx="327519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Electronic Health Record or DICOM imaging system integration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73168" y="2487168"/>
            <a:ext cx="694944" cy="201168"/>
          </a:xfrm>
          <a:prstGeom prst="rect">
            <a:avLst/>
          </a:prstGeom>
          <a:solidFill>
            <a:srgbClr val="FED7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73168" y="2487168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2335"/>
                </a:solidFill>
              </a:rPr>
              <a:t>Prescriptions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541264" y="2432304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Medication prescribing, dispensing, or pharmacy interaction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73168" y="2834640"/>
            <a:ext cx="694944" cy="201168"/>
          </a:xfrm>
          <a:prstGeom prst="rect">
            <a:avLst/>
          </a:prstGeom>
          <a:solidFill>
            <a:srgbClr val="FED7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73168" y="2834640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2335"/>
                </a:solidFill>
              </a:rPr>
              <a:t>Emergency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541264" y="2779776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Direct emergency triage, dispatch, or first-responder services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73168" y="3182112"/>
            <a:ext cx="694944" cy="201168"/>
          </a:xfrm>
          <a:prstGeom prst="rect">
            <a:avLst/>
          </a:prstGeom>
          <a:solidFill>
            <a:srgbClr val="FED7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73168" y="3182112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2335"/>
                </a:solidFill>
              </a:rPr>
              <a:t>Insurance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541264" y="3127248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Billing, claims processing, or insurance scheme connectivity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73168" y="3529584"/>
            <a:ext cx="694944" cy="201168"/>
          </a:xfrm>
          <a:prstGeom prst="rect">
            <a:avLst/>
          </a:prstGeom>
          <a:solidFill>
            <a:srgbClr val="FED7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27448" y="3529584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2335"/>
                </a:solidFill>
              </a:rPr>
              <a:t>DICOM Viewer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541264" y="3474720"/>
            <a:ext cx="327519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Raw medical imaging (CT, MRI) in-browser rendering (Phase 2)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73168" y="3877056"/>
            <a:ext cx="694944" cy="201168"/>
          </a:xfrm>
          <a:prstGeom prst="rect">
            <a:avLst/>
          </a:prstGeom>
          <a:solidFill>
            <a:srgbClr val="FED7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41164" y="3877056"/>
            <a:ext cx="740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2335"/>
                </a:solidFill>
              </a:rPr>
              <a:t>Mobile Native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541264" y="3822192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Native iOS and Android application builds (Phase 3)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73168" y="4224528"/>
            <a:ext cx="694944" cy="201168"/>
          </a:xfrm>
          <a:prstGeom prst="rect">
            <a:avLst/>
          </a:prstGeom>
          <a:solidFill>
            <a:srgbClr val="FED7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773168" y="4224528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2335"/>
                </a:solidFill>
              </a:rPr>
              <a:t>AI Diagnosis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541264" y="4169664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Autonomous diagnostic decisions without physician validation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5 / 14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7EC8E3"/>
                </a:solidFill>
              </a:rPr>
              <a:t>PROJECT OBJECTIVES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&amp; Success Criteria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8412480" cy="914400"/>
          </a:xfrm>
          <a:prstGeom prst="rect">
            <a:avLst/>
          </a:prstGeom>
          <a:solidFill>
            <a:srgbClr val="2C528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52144"/>
            <a:ext cx="73152" cy="841248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EC8E3"/>
                </a:solidFill>
              </a:rPr>
              <a:t>Primary Objective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4081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CF0F8"/>
                </a:solidFill>
              </a:rPr>
              <a:t>To design, implement, and evaluate a secure asynchronous telemedicine platform that leverages artificial intelligence for clinical case triage and specialist routing, thereby providing patients in resource-constrained healthcare environments with validated second medical opinions grounded in peer-reviewed evidence.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2651760" cy="1298448"/>
          </a:xfrm>
          <a:prstGeom prst="rect">
            <a:avLst/>
          </a:prstGeom>
          <a:solidFill>
            <a:srgbClr val="FFFFFF">
              <a:alpha val="93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2651760" cy="5486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5216" y="2304288"/>
            <a:ext cx="347472" cy="347472"/>
          </a:xfrm>
          <a:prstGeom prst="ellipse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331720"/>
            <a:ext cx="292608" cy="29260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005840" y="230428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7EC8E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05840" y="230428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EC8E3"/>
                </a:solidFill>
              </a:rPr>
              <a:t>O-1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463040" y="23042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Healthcare Equity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585216" y="2706624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00" dirty="0">
                <a:solidFill>
                  <a:srgbClr val="90B8C8"/>
                </a:solidFill>
              </a:rPr>
              <a:t>Extend verified specialist consultation to patients in Bangladesh, Nigeria, the Philippines, and analogous developing-region contexts where access remains structurally constrained.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10128" y="2176272"/>
            <a:ext cx="2651760" cy="1298448"/>
          </a:xfrm>
          <a:prstGeom prst="rect">
            <a:avLst/>
          </a:prstGeom>
          <a:solidFill>
            <a:srgbClr val="FFFFFF">
              <a:alpha val="93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310128" y="2176272"/>
            <a:ext cx="2651760" cy="54864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438144" y="2304288"/>
            <a:ext cx="347472" cy="347472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2331720"/>
            <a:ext cx="292608" cy="29260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858768" y="230428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6AD55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858768" y="230428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AD55"/>
                </a:solidFill>
              </a:rPr>
              <a:t>O-2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315968" y="23042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Diagnostic Validation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 21"/>
          <p:cNvSpPr/>
          <p:nvPr/>
        </p:nvSpPr>
        <p:spPr>
          <a:xfrm>
            <a:off x="3438144" y="2706624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00" dirty="0">
                <a:solidFill>
                  <a:srgbClr val="90B8C8"/>
                </a:solidFill>
              </a:rPr>
              <a:t>Reduce misdiagnosis incidence through evidence-based second opinions aligned with current ACC/AHA, WHO, and NICE clinical guidelines across five medical specialties.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163056" y="2176272"/>
            <a:ext cx="2651760" cy="1298448"/>
          </a:xfrm>
          <a:prstGeom prst="rect">
            <a:avLst/>
          </a:prstGeom>
          <a:solidFill>
            <a:srgbClr val="FFFFFF">
              <a:alpha val="93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163056" y="2176272"/>
            <a:ext cx="2651760" cy="54864"/>
          </a:xfrm>
          <a:prstGeom prst="rect">
            <a:avLst/>
          </a:prstGeom>
          <a:solidFill>
            <a:srgbClr val="9AE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6291072" y="2304288"/>
            <a:ext cx="347472" cy="347472"/>
          </a:xfrm>
          <a:prstGeom prst="ellipse">
            <a:avLst/>
          </a:prstGeom>
          <a:solidFill>
            <a:srgbClr val="9AE6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2331720"/>
            <a:ext cx="292608" cy="292608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711696" y="230428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9AE6B4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711696" y="230428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E6B4"/>
                </a:solidFill>
              </a:rPr>
              <a:t>O-3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7168896" y="23042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Intelligent Triage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Text 28"/>
          <p:cNvSpPr/>
          <p:nvPr/>
        </p:nvSpPr>
        <p:spPr>
          <a:xfrm>
            <a:off x="6291072" y="2706624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00" dirty="0">
                <a:solidFill>
                  <a:srgbClr val="90B8C8"/>
                </a:solidFill>
              </a:rPr>
              <a:t>Deploy a machine learning-assisted triage engine that routes cases to the most appropriate specialist, prioritises high-urgency submissions, and pre-screens for completeness.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57200" y="3547872"/>
            <a:ext cx="2651760" cy="1335024"/>
          </a:xfrm>
          <a:prstGeom prst="rect">
            <a:avLst/>
          </a:prstGeom>
          <a:solidFill>
            <a:srgbClr val="FFFFFF">
              <a:alpha val="93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457200" y="3547872"/>
            <a:ext cx="2651760" cy="54864"/>
          </a:xfrm>
          <a:prstGeom prst="rect">
            <a:avLst/>
          </a:prstGeom>
          <a:solidFill>
            <a:srgbClr val="FEB2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585216" y="3675888"/>
            <a:ext cx="347472" cy="347472"/>
          </a:xfrm>
          <a:prstGeom prst="ellipse">
            <a:avLst/>
          </a:prstGeom>
          <a:solidFill>
            <a:srgbClr val="FEB2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703320"/>
            <a:ext cx="292608" cy="292608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1005840" y="367588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EB2B2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1005840" y="367588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EB2B2"/>
                </a:solidFill>
              </a:rPr>
              <a:t>O-4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1463040" y="36758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Security &amp; Compliance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Text 35"/>
          <p:cNvSpPr/>
          <p:nvPr/>
        </p:nvSpPr>
        <p:spPr>
          <a:xfrm>
            <a:off x="585216" y="4078224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00" dirty="0">
                <a:solidFill>
                  <a:srgbClr val="90B8C8"/>
                </a:solidFill>
              </a:rPr>
              <a:t>Enforce end-to-end data encryption, HIPAA-aware handling, ISO 27001 information security management, and strict role-based access policies across all system layers.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3310128" y="3547872"/>
            <a:ext cx="2651760" cy="1335024"/>
          </a:xfrm>
          <a:prstGeom prst="rect">
            <a:avLst/>
          </a:prstGeom>
          <a:solidFill>
            <a:srgbClr val="FFFFFF">
              <a:alpha val="93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3310128" y="3547872"/>
            <a:ext cx="2651760" cy="54864"/>
          </a:xfrm>
          <a:prstGeom prst="rect">
            <a:avLst/>
          </a:prstGeom>
          <a:solidFill>
            <a:srgbClr val="B79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8"/>
          <p:cNvSpPr/>
          <p:nvPr/>
        </p:nvSpPr>
        <p:spPr>
          <a:xfrm>
            <a:off x="3438144" y="3675888"/>
            <a:ext cx="347472" cy="347472"/>
          </a:xfrm>
          <a:prstGeom prst="ellipse">
            <a:avLst/>
          </a:prstGeom>
          <a:solidFill>
            <a:srgbClr val="B79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5576" y="3703320"/>
            <a:ext cx="292608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3858768" y="367588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B794F4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3858768" y="367588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794F4"/>
                </a:solidFill>
              </a:rPr>
              <a:t>O-5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4315968" y="36758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Clinical Workflow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 42"/>
          <p:cNvSpPr/>
          <p:nvPr/>
        </p:nvSpPr>
        <p:spPr>
          <a:xfrm>
            <a:off x="3438144" y="4078224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00" dirty="0">
                <a:solidFill>
                  <a:srgbClr val="90B8C8"/>
                </a:solidFill>
              </a:rPr>
              <a:t>Provide physicians with a structured case management interface that supports asynchronous comment threading, document review, evidence citation, and follow-up interaction.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6163056" y="3547872"/>
            <a:ext cx="2651760" cy="1335024"/>
          </a:xfrm>
          <a:prstGeom prst="rect">
            <a:avLst/>
          </a:prstGeom>
          <a:solidFill>
            <a:srgbClr val="FFFFFF">
              <a:alpha val="93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4"/>
          <p:cNvSpPr/>
          <p:nvPr/>
        </p:nvSpPr>
        <p:spPr>
          <a:xfrm>
            <a:off x="6163056" y="3547872"/>
            <a:ext cx="2651760" cy="54864"/>
          </a:xfrm>
          <a:prstGeom prst="rect">
            <a:avLst/>
          </a:prstGeom>
          <a:solidFill>
            <a:srgbClr val="81E6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5"/>
          <p:cNvSpPr/>
          <p:nvPr/>
        </p:nvSpPr>
        <p:spPr>
          <a:xfrm>
            <a:off x="6291072" y="3675888"/>
            <a:ext cx="347472" cy="347472"/>
          </a:xfrm>
          <a:prstGeom prst="ellipse">
            <a:avLst/>
          </a:prstGeom>
          <a:solidFill>
            <a:srgbClr val="81E6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4" y="3703320"/>
            <a:ext cx="292608" cy="292608"/>
          </a:xfrm>
          <a:prstGeom prst="rect">
            <a:avLst/>
          </a:prstGeom>
        </p:spPr>
      </p:pic>
      <p:sp>
        <p:nvSpPr>
          <p:cNvPr id="54" name="Shape 46"/>
          <p:cNvSpPr/>
          <p:nvPr/>
        </p:nvSpPr>
        <p:spPr>
          <a:xfrm>
            <a:off x="6711696" y="367588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81E6D9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7"/>
          <p:cNvSpPr/>
          <p:nvPr/>
        </p:nvSpPr>
        <p:spPr>
          <a:xfrm>
            <a:off x="6711696" y="367588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1E6D9"/>
                </a:solidFill>
              </a:rPr>
              <a:t>O-6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7168896" y="36758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Scalable Architecture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" name="Text 49"/>
          <p:cNvSpPr/>
          <p:nvPr/>
        </p:nvSpPr>
        <p:spPr>
          <a:xfrm>
            <a:off x="6291072" y="4078224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00" dirty="0">
                <a:solidFill>
                  <a:srgbClr val="90B8C8"/>
                </a:solidFill>
              </a:rPr>
              <a:t>Deploy as a zero-build-step React SPA to maximise accessibility across bandwidth constraints, while maintaining extensibility toward mobile and API-integrated future phases.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1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</a:t>
            </a:r>
            <a:endParaRPr lang="en-US" sz="700" dirty="0"/>
          </a:p>
        </p:txBody>
      </p:sp>
      <p:sp>
        <p:nvSpPr>
          <p:cNvPr id="60" name="Text 52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6 / 14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2C5282"/>
                </a:solidFill>
              </a:rPr>
              <a:t>FUNCTIONAL REQUIREMENTS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Capabilities by User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33856"/>
            <a:ext cx="2651760" cy="512064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" y="1207008"/>
            <a:ext cx="347472" cy="347472"/>
          </a:xfrm>
          <a:prstGeom prst="ellipse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234440"/>
            <a:ext cx="292608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4128" y="1225296"/>
            <a:ext cx="603504" cy="182880"/>
          </a:xfrm>
          <a:prstGeom prst="roundRect">
            <a:avLst>
              <a:gd name="adj" fmla="val 40000"/>
            </a:avLst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4128" y="1225296"/>
            <a:ext cx="603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76749"/>
                </a:solidFill>
              </a:rPr>
              <a:t>PATIENT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700784" y="12070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Patient Subsystem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" y="1865376"/>
            <a:ext cx="512064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3504" y="186537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76749"/>
                </a:solidFill>
              </a:rPr>
              <a:t>FR-01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88720" y="179222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Self-registration and secure credential authentication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" y="2359152"/>
            <a:ext cx="512064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3504" y="2359152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76749"/>
                </a:solidFill>
              </a:rPr>
              <a:t>FR-02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88720" y="228600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Structured case submission with title, description, specialty, and priority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3504" y="2852928"/>
            <a:ext cx="512064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03504" y="2852928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76749"/>
                </a:solidFill>
              </a:rPr>
              <a:t>FR-03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88720" y="277977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Attachment upload — PDF reports and JPEG imaging exports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03504" y="3346704"/>
            <a:ext cx="512064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03504" y="3346704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76749"/>
                </a:solidFill>
              </a:rPr>
              <a:t>FR-04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88720" y="3273552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Personal case history dashboard with status indicators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03504" y="3840480"/>
            <a:ext cx="512064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03504" y="3840480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76749"/>
                </a:solidFill>
              </a:rPr>
              <a:t>FR-05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188720" y="37673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Threaded follow-up comment and reply capability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3504" y="4334256"/>
            <a:ext cx="512064" cy="201168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03504" y="433425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76749"/>
                </a:solidFill>
              </a:rPr>
              <a:t>FR-06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188720" y="426110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Real-time bell-notification receipt on case events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310128" y="1133856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310128" y="1133856"/>
            <a:ext cx="2651760" cy="512064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456432" y="1207008"/>
            <a:ext cx="347472" cy="347472"/>
          </a:xfrm>
          <a:prstGeom prst="ellipse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1234440"/>
            <a:ext cx="292608" cy="292608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3877056" y="1225296"/>
            <a:ext cx="603504" cy="182880"/>
          </a:xfrm>
          <a:prstGeom prst="roundRect">
            <a:avLst>
              <a:gd name="adj" fmla="val 40000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877056" y="1225296"/>
            <a:ext cx="630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6CB0"/>
                </a:solidFill>
              </a:rPr>
              <a:t>PHYSICIAN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4553712" y="12070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Physician Subsystem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3456432" y="1865376"/>
            <a:ext cx="512064" cy="201168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3456432" y="186537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6CB0"/>
                </a:solidFill>
              </a:rPr>
              <a:t>FR-07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4041648" y="179222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Full case feed access filtered by specialty and urgency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3456432" y="2359152"/>
            <a:ext cx="512064" cy="201168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3456432" y="2359152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6CB0"/>
                </a:solidFill>
              </a:rPr>
              <a:t>FR-08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4041648" y="228600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Structured clinical opinion authoring with evidence citation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3456432" y="2852928"/>
            <a:ext cx="512064" cy="201168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3456432" y="2852928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6CB0"/>
                </a:solidFill>
              </a:rPr>
              <a:t>FR-09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4041648" y="277977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Comment editing and deletion on own contributions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3456432" y="3346704"/>
            <a:ext cx="512064" cy="201168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3456432" y="3346704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6CB0"/>
                </a:solidFill>
              </a:rPr>
              <a:t>FR-10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4041648" y="3273552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Patient follow-up reply threading with reply management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3456432" y="3840480"/>
            <a:ext cx="512064" cy="201168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3456432" y="3840480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6CB0"/>
                </a:solidFill>
              </a:rPr>
              <a:t>FR-11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4041648" y="37673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Like/dislike endorsement on cases and peer comments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3456432" y="4334256"/>
            <a:ext cx="512064" cy="201168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3456432" y="433425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6CB0"/>
                </a:solidFill>
              </a:rPr>
              <a:t>FR-12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4041648" y="426110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Specialty- and status-filtered case search interface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6163056" y="1133856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6163056" y="1133856"/>
            <a:ext cx="2651760" cy="512064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6309360" y="1207008"/>
            <a:ext cx="347472" cy="347472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234440"/>
            <a:ext cx="292608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6729984" y="1225296"/>
            <a:ext cx="603504" cy="182880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6"/>
          <p:cNvSpPr/>
          <p:nvPr/>
        </p:nvSpPr>
        <p:spPr>
          <a:xfrm>
            <a:off x="6729984" y="1225296"/>
            <a:ext cx="603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6C1"/>
                </a:solidFill>
              </a:rPr>
              <a:t>ADMIN</a:t>
            </a:r>
            <a:endParaRPr lang="en-US" sz="750" dirty="0"/>
          </a:p>
        </p:txBody>
      </p:sp>
      <p:sp>
        <p:nvSpPr>
          <p:cNvPr id="62" name="Text 57"/>
          <p:cNvSpPr/>
          <p:nvPr/>
        </p:nvSpPr>
        <p:spPr>
          <a:xfrm>
            <a:off x="7406640" y="12070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Administration Subsystem</a:t>
            </a:r>
            <a:endParaRPr lang="en-US" sz="1100" dirty="0"/>
          </a:p>
        </p:txBody>
      </p:sp>
      <p:sp>
        <p:nvSpPr>
          <p:cNvPr id="63" name="Shape 58"/>
          <p:cNvSpPr/>
          <p:nvPr/>
        </p:nvSpPr>
        <p:spPr>
          <a:xfrm>
            <a:off x="6309360" y="1865376"/>
            <a:ext cx="512064" cy="201168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9"/>
          <p:cNvSpPr/>
          <p:nvPr/>
        </p:nvSpPr>
        <p:spPr>
          <a:xfrm>
            <a:off x="6309360" y="186537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6C1"/>
                </a:solidFill>
              </a:rPr>
              <a:t>FR-13</a:t>
            </a:r>
            <a:endParaRPr lang="en-US" sz="750" dirty="0"/>
          </a:p>
        </p:txBody>
      </p:sp>
      <p:sp>
        <p:nvSpPr>
          <p:cNvPr id="65" name="Text 60"/>
          <p:cNvSpPr/>
          <p:nvPr/>
        </p:nvSpPr>
        <p:spPr>
          <a:xfrm>
            <a:off x="6894576" y="179222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Full CRUD operations across all posts and comments</a:t>
            </a:r>
            <a:endParaRPr lang="en-US" sz="950" dirty="0"/>
          </a:p>
        </p:txBody>
      </p:sp>
      <p:sp>
        <p:nvSpPr>
          <p:cNvPr id="66" name="Shape 61"/>
          <p:cNvSpPr/>
          <p:nvPr/>
        </p:nvSpPr>
        <p:spPr>
          <a:xfrm>
            <a:off x="6309360" y="2359152"/>
            <a:ext cx="512064" cy="201168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2"/>
          <p:cNvSpPr/>
          <p:nvPr/>
        </p:nvSpPr>
        <p:spPr>
          <a:xfrm>
            <a:off x="6309360" y="2359152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6C1"/>
                </a:solidFill>
              </a:rPr>
              <a:t>FR-14</a:t>
            </a:r>
            <a:endParaRPr lang="en-US" sz="750" dirty="0"/>
          </a:p>
        </p:txBody>
      </p:sp>
      <p:sp>
        <p:nvSpPr>
          <p:cNvPr id="68" name="Text 63"/>
          <p:cNvSpPr/>
          <p:nvPr/>
        </p:nvSpPr>
        <p:spPr>
          <a:xfrm>
            <a:off x="6894576" y="228600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User account management and role assignment</a:t>
            </a:r>
            <a:endParaRPr lang="en-US" sz="950" dirty="0"/>
          </a:p>
        </p:txBody>
      </p:sp>
      <p:sp>
        <p:nvSpPr>
          <p:cNvPr id="69" name="Shape 64"/>
          <p:cNvSpPr/>
          <p:nvPr/>
        </p:nvSpPr>
        <p:spPr>
          <a:xfrm>
            <a:off x="6309360" y="2852928"/>
            <a:ext cx="512064" cy="201168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5"/>
          <p:cNvSpPr/>
          <p:nvPr/>
        </p:nvSpPr>
        <p:spPr>
          <a:xfrm>
            <a:off x="6309360" y="2852928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6C1"/>
                </a:solidFill>
              </a:rPr>
              <a:t>FR-15</a:t>
            </a:r>
            <a:endParaRPr lang="en-US" sz="750" dirty="0"/>
          </a:p>
        </p:txBody>
      </p:sp>
      <p:sp>
        <p:nvSpPr>
          <p:cNvPr id="71" name="Text 66"/>
          <p:cNvSpPr/>
          <p:nvPr/>
        </p:nvSpPr>
        <p:spPr>
          <a:xfrm>
            <a:off x="6894576" y="277977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Physician credential verification workflow on onboarding</a:t>
            </a:r>
            <a:endParaRPr lang="en-US" sz="950" dirty="0"/>
          </a:p>
        </p:txBody>
      </p:sp>
      <p:sp>
        <p:nvSpPr>
          <p:cNvPr id="72" name="Shape 67"/>
          <p:cNvSpPr/>
          <p:nvPr/>
        </p:nvSpPr>
        <p:spPr>
          <a:xfrm>
            <a:off x="6309360" y="3346704"/>
            <a:ext cx="512064" cy="201168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8"/>
          <p:cNvSpPr/>
          <p:nvPr/>
        </p:nvSpPr>
        <p:spPr>
          <a:xfrm>
            <a:off x="6309360" y="3346704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6C1"/>
                </a:solidFill>
              </a:rPr>
              <a:t>FR-16</a:t>
            </a:r>
            <a:endParaRPr lang="en-US" sz="750" dirty="0"/>
          </a:p>
        </p:txBody>
      </p:sp>
      <p:sp>
        <p:nvSpPr>
          <p:cNvPr id="74" name="Text 69"/>
          <p:cNvSpPr/>
          <p:nvPr/>
        </p:nvSpPr>
        <p:spPr>
          <a:xfrm>
            <a:off x="6894576" y="3273552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Platform-wide announcement authoring and publishing</a:t>
            </a:r>
            <a:endParaRPr lang="en-US" sz="950" dirty="0"/>
          </a:p>
        </p:txBody>
      </p:sp>
      <p:sp>
        <p:nvSpPr>
          <p:cNvPr id="75" name="Shape 70"/>
          <p:cNvSpPr/>
          <p:nvPr/>
        </p:nvSpPr>
        <p:spPr>
          <a:xfrm>
            <a:off x="6309360" y="3840480"/>
            <a:ext cx="512064" cy="201168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1"/>
          <p:cNvSpPr/>
          <p:nvPr/>
        </p:nvSpPr>
        <p:spPr>
          <a:xfrm>
            <a:off x="6309360" y="3840480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6C1"/>
                </a:solidFill>
              </a:rPr>
              <a:t>FR-17</a:t>
            </a:r>
            <a:endParaRPr lang="en-US" sz="750" dirty="0"/>
          </a:p>
        </p:txBody>
      </p:sp>
      <p:sp>
        <p:nvSpPr>
          <p:cNvPr id="77" name="Text 72"/>
          <p:cNvSpPr/>
          <p:nvPr/>
        </p:nvSpPr>
        <p:spPr>
          <a:xfrm>
            <a:off x="6894576" y="37673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Aggregate statistics and case activity monitoring</a:t>
            </a:r>
            <a:endParaRPr lang="en-US" sz="950" dirty="0"/>
          </a:p>
        </p:txBody>
      </p:sp>
      <p:sp>
        <p:nvSpPr>
          <p:cNvPr id="78" name="Shape 73"/>
          <p:cNvSpPr/>
          <p:nvPr/>
        </p:nvSpPr>
        <p:spPr>
          <a:xfrm>
            <a:off x="6309360" y="4334256"/>
            <a:ext cx="512064" cy="201168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4"/>
          <p:cNvSpPr/>
          <p:nvPr/>
        </p:nvSpPr>
        <p:spPr>
          <a:xfrm>
            <a:off x="6309360" y="433425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6C1"/>
                </a:solidFill>
              </a:rPr>
              <a:t>FR-18</a:t>
            </a:r>
            <a:endParaRPr lang="en-US" sz="750" dirty="0"/>
          </a:p>
        </p:txBody>
      </p:sp>
      <p:sp>
        <p:nvSpPr>
          <p:cNvPr id="80" name="Text 75"/>
          <p:cNvSpPr/>
          <p:nvPr/>
        </p:nvSpPr>
        <p:spPr>
          <a:xfrm>
            <a:off x="6894576" y="426110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System-wide notification management and broadcast</a:t>
            </a:r>
            <a:endParaRPr lang="en-US" sz="950" dirty="0"/>
          </a:p>
        </p:txBody>
      </p:sp>
      <p:sp>
        <p:nvSpPr>
          <p:cNvPr id="81" name="Shape 76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7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 </a:t>
            </a:r>
            <a:endParaRPr lang="en-US" sz="700" dirty="0"/>
          </a:p>
        </p:txBody>
      </p:sp>
      <p:sp>
        <p:nvSpPr>
          <p:cNvPr id="83" name="Text 78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7 / 14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0624" y="29779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7EC8E3"/>
                </a:solidFill>
              </a:rPr>
              <a:t>NON-FUNCTIONAL REQUIREMENTS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Attributes &amp; System Constraints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2011680" cy="1700784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011680" cy="54864"/>
          </a:xfrm>
          <a:prstGeom prst="rect">
            <a:avLst/>
          </a:prstGeom>
          <a:solidFill>
            <a:srgbClr val="FEB2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5216" y="1298448"/>
            <a:ext cx="347472" cy="347472"/>
          </a:xfrm>
          <a:prstGeom prst="ellipse">
            <a:avLst/>
          </a:prstGeom>
          <a:solidFill>
            <a:srgbClr val="FEB2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25880"/>
            <a:ext cx="292608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05840" y="1316736"/>
            <a:ext cx="585216" cy="182880"/>
          </a:xfrm>
          <a:prstGeom prst="roundRect">
            <a:avLst>
              <a:gd name="adj" fmla="val 40000"/>
            </a:avLst>
          </a:prstGeom>
          <a:solidFill>
            <a:srgbClr val="FEB2B2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1316736"/>
            <a:ext cx="585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EB2B2"/>
                </a:solidFill>
              </a:rPr>
              <a:t>NFR-01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33272" y="1593123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EB2B2"/>
                </a:solidFill>
              </a:rPr>
              <a:t>Security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1854" y="179725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Authentication &amp; RBAC</a:t>
            </a:r>
            <a:endParaRPr lang="en-US" sz="9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585216" y="2121408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850" dirty="0">
                <a:solidFill>
                  <a:srgbClr val="90B8C8"/>
                </a:solidFill>
              </a:rPr>
              <a:t>All routes gated by role-based access. Password policy enforces ≥ 8 characters with mixed types. Sessions invalidated on logout.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633472" y="1170432"/>
            <a:ext cx="2011680" cy="171907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633472" y="1170432"/>
            <a:ext cx="2011680" cy="5486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61488" y="1298448"/>
            <a:ext cx="347472" cy="347472"/>
          </a:xfrm>
          <a:prstGeom prst="ellipse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325880"/>
            <a:ext cx="292608" cy="29260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182112" y="1316736"/>
            <a:ext cx="585216" cy="182880"/>
          </a:xfrm>
          <a:prstGeom prst="roundRect">
            <a:avLst>
              <a:gd name="adj" fmla="val 40000"/>
            </a:avLst>
          </a:prstGeom>
          <a:solidFill>
            <a:srgbClr val="7EC8E3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182112" y="1316736"/>
            <a:ext cx="585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EC8E3"/>
                </a:solidFill>
              </a:rPr>
              <a:t>NFR-02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182112" y="1580781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EC8E3"/>
                </a:solidFill>
              </a:rPr>
              <a:t>Performance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2848356" y="17922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Response Latency</a:t>
            </a:r>
            <a:endParaRPr lang="en-US" sz="9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 19"/>
          <p:cNvSpPr/>
          <p:nvPr/>
        </p:nvSpPr>
        <p:spPr>
          <a:xfrm>
            <a:off x="2761488" y="2121408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850" dirty="0">
                <a:solidFill>
                  <a:srgbClr val="90B8C8"/>
                </a:solidFill>
              </a:rPr>
              <a:t>Case feed renders within 200 ms on standard broadband. AI pre-screening completes before physician assignment. Notifications dispatch in &lt; 1 s.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4809744" y="1170432"/>
            <a:ext cx="2011680" cy="171907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809744" y="1170432"/>
            <a:ext cx="2011680" cy="54864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937760" y="1298448"/>
            <a:ext cx="347472" cy="347472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1325880"/>
            <a:ext cx="292608" cy="292608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358384" y="1316736"/>
            <a:ext cx="585216" cy="182880"/>
          </a:xfrm>
          <a:prstGeom prst="roundRect">
            <a:avLst>
              <a:gd name="adj" fmla="val 40000"/>
            </a:avLst>
          </a:prstGeom>
          <a:solidFill>
            <a:srgbClr val="F6AD55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358384" y="1316736"/>
            <a:ext cx="585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AD55"/>
                </a:solidFill>
              </a:rPr>
              <a:t>NFR-03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5353812" y="1594975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6AD55"/>
                </a:solidFill>
              </a:rPr>
              <a:t>Confidentiality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0056" y="1800237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Privacy Isolation</a:t>
            </a:r>
            <a:endParaRPr lang="en-US" sz="9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 27"/>
          <p:cNvSpPr/>
          <p:nvPr/>
        </p:nvSpPr>
        <p:spPr>
          <a:xfrm>
            <a:off x="4937760" y="2121408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850" dirty="0">
                <a:solidFill>
                  <a:srgbClr val="90B8C8"/>
                </a:solidFill>
              </a:rPr>
              <a:t>Patient case records are partitioned per user. Strict access control ensures no cross-patient data leakage. Encryption applied in transit and at rest.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6986016" y="1170432"/>
            <a:ext cx="2011680" cy="1700784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6986016" y="1170432"/>
            <a:ext cx="2011680" cy="54864"/>
          </a:xfrm>
          <a:prstGeom prst="rect">
            <a:avLst/>
          </a:prstGeom>
          <a:solidFill>
            <a:srgbClr val="9AE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7114032" y="1298448"/>
            <a:ext cx="347472" cy="347472"/>
          </a:xfrm>
          <a:prstGeom prst="ellipse">
            <a:avLst/>
          </a:prstGeom>
          <a:solidFill>
            <a:srgbClr val="9AE6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1325880"/>
            <a:ext cx="292608" cy="292608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7534656" y="1316736"/>
            <a:ext cx="585216" cy="182880"/>
          </a:xfrm>
          <a:prstGeom prst="roundRect">
            <a:avLst>
              <a:gd name="adj" fmla="val 40000"/>
            </a:avLst>
          </a:prstGeom>
          <a:solidFill>
            <a:srgbClr val="9AE6B4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7534656" y="1316736"/>
            <a:ext cx="585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E6B4"/>
                </a:solidFill>
              </a:rPr>
              <a:t>NFR-04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7534656" y="1573889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AE6B4"/>
                </a:solidFill>
              </a:rPr>
              <a:t>Usability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7223760" y="1807247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Responsive Accessibility</a:t>
            </a:r>
            <a:endParaRPr lang="en-US" sz="9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Text 35"/>
          <p:cNvSpPr/>
          <p:nvPr/>
        </p:nvSpPr>
        <p:spPr>
          <a:xfrm>
            <a:off x="7114032" y="2121408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850" dirty="0">
                <a:solidFill>
                  <a:srgbClr val="90B8C8"/>
                </a:solidFill>
              </a:rPr>
              <a:t>Fluid layout adapts from 320 px to 4K. WCAG 2.1 AA compliant focus management. DM Sans typeface optimised for medical reading tasks.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457200" y="2962656"/>
            <a:ext cx="2011680" cy="173736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457200" y="2962656"/>
            <a:ext cx="2011680" cy="54864"/>
          </a:xfrm>
          <a:prstGeom prst="rect">
            <a:avLst/>
          </a:prstGeom>
          <a:solidFill>
            <a:srgbClr val="81E6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8"/>
          <p:cNvSpPr/>
          <p:nvPr/>
        </p:nvSpPr>
        <p:spPr>
          <a:xfrm>
            <a:off x="585216" y="3090672"/>
            <a:ext cx="347472" cy="347472"/>
          </a:xfrm>
          <a:prstGeom prst="ellipse">
            <a:avLst/>
          </a:prstGeom>
          <a:solidFill>
            <a:srgbClr val="81E6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3118104"/>
            <a:ext cx="292608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1005840" y="3108960"/>
            <a:ext cx="585216" cy="182880"/>
          </a:xfrm>
          <a:prstGeom prst="roundRect">
            <a:avLst>
              <a:gd name="adj" fmla="val 40000"/>
            </a:avLst>
          </a:prstGeom>
          <a:solidFill>
            <a:srgbClr val="81E6D9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1005840" y="3108960"/>
            <a:ext cx="585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1E6D9"/>
                </a:solidFill>
              </a:rPr>
              <a:t>NFR-05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1074898" y="33787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1E6D9"/>
                </a:solidFill>
              </a:rPr>
              <a:t>Reliability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694944" y="359409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Offline-Capable SPA</a:t>
            </a:r>
            <a:endParaRPr lang="en-US" sz="9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Text 43"/>
          <p:cNvSpPr/>
          <p:nvPr/>
        </p:nvSpPr>
        <p:spPr>
          <a:xfrm>
            <a:off x="585216" y="3913632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850" dirty="0">
                <a:solidFill>
                  <a:srgbClr val="90B8C8"/>
                </a:solidFill>
              </a:rPr>
              <a:t>Single-file React SPA with zero build dependencies. Functional offline post-initial load. CDN-resilient via Babel standalone transpilation.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2633472" y="2962656"/>
            <a:ext cx="2011680" cy="173736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5"/>
          <p:cNvSpPr/>
          <p:nvPr/>
        </p:nvSpPr>
        <p:spPr>
          <a:xfrm>
            <a:off x="2633472" y="2962656"/>
            <a:ext cx="2011680" cy="54864"/>
          </a:xfrm>
          <a:prstGeom prst="rect">
            <a:avLst/>
          </a:prstGeom>
          <a:solidFill>
            <a:srgbClr val="B79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6"/>
          <p:cNvSpPr/>
          <p:nvPr/>
        </p:nvSpPr>
        <p:spPr>
          <a:xfrm>
            <a:off x="2761488" y="3090672"/>
            <a:ext cx="347472" cy="347472"/>
          </a:xfrm>
          <a:prstGeom prst="ellipse">
            <a:avLst/>
          </a:prstGeom>
          <a:solidFill>
            <a:srgbClr val="B79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8920" y="3118104"/>
            <a:ext cx="292608" cy="292608"/>
          </a:xfrm>
          <a:prstGeom prst="rect">
            <a:avLst/>
          </a:prstGeom>
        </p:spPr>
      </p:pic>
      <p:sp>
        <p:nvSpPr>
          <p:cNvPr id="55" name="Shape 47"/>
          <p:cNvSpPr/>
          <p:nvPr/>
        </p:nvSpPr>
        <p:spPr>
          <a:xfrm>
            <a:off x="3182112" y="3108960"/>
            <a:ext cx="585216" cy="182880"/>
          </a:xfrm>
          <a:prstGeom prst="roundRect">
            <a:avLst>
              <a:gd name="adj" fmla="val 40000"/>
            </a:avLst>
          </a:prstGeom>
          <a:solidFill>
            <a:srgbClr val="B794F4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/>
          <p:nvPr/>
        </p:nvSpPr>
        <p:spPr>
          <a:xfrm>
            <a:off x="3182112" y="3108960"/>
            <a:ext cx="585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794F4"/>
                </a:solidFill>
              </a:rPr>
              <a:t>NFR-06</a:t>
            </a:r>
            <a:endParaRPr lang="en-US" sz="800" dirty="0"/>
          </a:p>
        </p:txBody>
      </p:sp>
      <p:sp>
        <p:nvSpPr>
          <p:cNvPr id="57" name="Text 49"/>
          <p:cNvSpPr/>
          <p:nvPr/>
        </p:nvSpPr>
        <p:spPr>
          <a:xfrm>
            <a:off x="3182112" y="33787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94F4"/>
                </a:solidFill>
              </a:rPr>
              <a:t>Scalability</a:t>
            </a:r>
            <a:endParaRPr lang="en-US" sz="850" dirty="0"/>
          </a:p>
        </p:txBody>
      </p:sp>
      <p:sp>
        <p:nvSpPr>
          <p:cNvPr id="58" name="Text 50"/>
          <p:cNvSpPr/>
          <p:nvPr/>
        </p:nvSpPr>
        <p:spPr>
          <a:xfrm>
            <a:off x="2848356" y="359409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Extensible Architecture</a:t>
            </a:r>
            <a:endParaRPr lang="en-US" sz="9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Text 51"/>
          <p:cNvSpPr/>
          <p:nvPr/>
        </p:nvSpPr>
        <p:spPr>
          <a:xfrm>
            <a:off x="2761488" y="3913632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850" dirty="0">
                <a:solidFill>
                  <a:srgbClr val="90B8C8"/>
                </a:solidFill>
              </a:rPr>
              <a:t>Decoupled view-routing and state management layers support database and API swap-ins without UI refactoring. Component-level reusability enforced.</a:t>
            </a:r>
            <a:endParaRPr lang="en-US" sz="850" dirty="0"/>
          </a:p>
        </p:txBody>
      </p:sp>
      <p:sp>
        <p:nvSpPr>
          <p:cNvPr id="60" name="Shape 52"/>
          <p:cNvSpPr/>
          <p:nvPr/>
        </p:nvSpPr>
        <p:spPr>
          <a:xfrm>
            <a:off x="4809744" y="2962656"/>
            <a:ext cx="2011680" cy="173736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3"/>
          <p:cNvSpPr/>
          <p:nvPr/>
        </p:nvSpPr>
        <p:spPr>
          <a:xfrm>
            <a:off x="4809744" y="2962656"/>
            <a:ext cx="2011680" cy="54864"/>
          </a:xfrm>
          <a:prstGeom prst="rect">
            <a:avLst/>
          </a:prstGeom>
          <a:solidFill>
            <a:srgbClr val="68D3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4"/>
          <p:cNvSpPr/>
          <p:nvPr/>
        </p:nvSpPr>
        <p:spPr>
          <a:xfrm>
            <a:off x="4937760" y="3090672"/>
            <a:ext cx="347472" cy="347472"/>
          </a:xfrm>
          <a:prstGeom prst="ellipse">
            <a:avLst/>
          </a:prstGeom>
          <a:solidFill>
            <a:srgbClr val="68D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5192" y="3118104"/>
            <a:ext cx="292608" cy="292608"/>
          </a:xfrm>
          <a:prstGeom prst="rect">
            <a:avLst/>
          </a:prstGeom>
        </p:spPr>
      </p:pic>
      <p:sp>
        <p:nvSpPr>
          <p:cNvPr id="64" name="Shape 55"/>
          <p:cNvSpPr/>
          <p:nvPr/>
        </p:nvSpPr>
        <p:spPr>
          <a:xfrm>
            <a:off x="5358384" y="3108960"/>
            <a:ext cx="585216" cy="182880"/>
          </a:xfrm>
          <a:prstGeom prst="roundRect">
            <a:avLst>
              <a:gd name="adj" fmla="val 40000"/>
            </a:avLst>
          </a:prstGeom>
          <a:solidFill>
            <a:srgbClr val="68D391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6"/>
          <p:cNvSpPr/>
          <p:nvPr/>
        </p:nvSpPr>
        <p:spPr>
          <a:xfrm>
            <a:off x="5358384" y="3108960"/>
            <a:ext cx="585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8D391"/>
                </a:solidFill>
              </a:rPr>
              <a:t>NFR-07</a:t>
            </a:r>
            <a:endParaRPr lang="en-US" sz="800" dirty="0"/>
          </a:p>
        </p:txBody>
      </p:sp>
      <p:sp>
        <p:nvSpPr>
          <p:cNvPr id="66" name="Text 57"/>
          <p:cNvSpPr/>
          <p:nvPr/>
        </p:nvSpPr>
        <p:spPr>
          <a:xfrm>
            <a:off x="5385816" y="33787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8D391"/>
                </a:solidFill>
              </a:rPr>
              <a:t>Compliance</a:t>
            </a:r>
            <a:endParaRPr lang="en-US" sz="850" dirty="0"/>
          </a:p>
        </p:txBody>
      </p:sp>
      <p:sp>
        <p:nvSpPr>
          <p:cNvPr id="67" name="Text 58"/>
          <p:cNvSpPr/>
          <p:nvPr/>
        </p:nvSpPr>
        <p:spPr>
          <a:xfrm>
            <a:off x="5027016" y="35838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HIPAA &amp; ISO 27001</a:t>
            </a:r>
            <a:endParaRPr lang="en-US" sz="9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8" name="Text 59"/>
          <p:cNvSpPr/>
          <p:nvPr/>
        </p:nvSpPr>
        <p:spPr>
          <a:xfrm>
            <a:off x="4937760" y="3913632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850" dirty="0">
                <a:solidFill>
                  <a:srgbClr val="90B8C8"/>
                </a:solidFill>
              </a:rPr>
              <a:t>Designed against HIPAA §164.312 technical safeguards and ISO 27001:2022 Annex A controls. Audit logging on all privileged data operations.</a:t>
            </a:r>
            <a:endParaRPr lang="en-US" sz="850" dirty="0"/>
          </a:p>
        </p:txBody>
      </p:sp>
      <p:sp>
        <p:nvSpPr>
          <p:cNvPr id="69" name="Shape 60"/>
          <p:cNvSpPr/>
          <p:nvPr/>
        </p:nvSpPr>
        <p:spPr>
          <a:xfrm>
            <a:off x="6986016" y="2962656"/>
            <a:ext cx="2011680" cy="173736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1"/>
          <p:cNvSpPr/>
          <p:nvPr/>
        </p:nvSpPr>
        <p:spPr>
          <a:xfrm>
            <a:off x="6986016" y="2962656"/>
            <a:ext cx="2011680" cy="54864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2"/>
          <p:cNvSpPr/>
          <p:nvPr/>
        </p:nvSpPr>
        <p:spPr>
          <a:xfrm>
            <a:off x="7114032" y="3090672"/>
            <a:ext cx="347472" cy="347472"/>
          </a:xfrm>
          <a:prstGeom prst="ellipse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1464" y="3118104"/>
            <a:ext cx="292608" cy="292608"/>
          </a:xfrm>
          <a:prstGeom prst="rect">
            <a:avLst/>
          </a:prstGeom>
        </p:spPr>
      </p:pic>
      <p:sp>
        <p:nvSpPr>
          <p:cNvPr id="73" name="Shape 63"/>
          <p:cNvSpPr/>
          <p:nvPr/>
        </p:nvSpPr>
        <p:spPr>
          <a:xfrm>
            <a:off x="7534656" y="3108960"/>
            <a:ext cx="585216" cy="182880"/>
          </a:xfrm>
          <a:prstGeom prst="roundRect">
            <a:avLst>
              <a:gd name="adj" fmla="val 40000"/>
            </a:avLst>
          </a:prstGeom>
          <a:solidFill>
            <a:srgbClr val="A3E635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4"/>
          <p:cNvSpPr/>
          <p:nvPr/>
        </p:nvSpPr>
        <p:spPr>
          <a:xfrm>
            <a:off x="7534656" y="3108960"/>
            <a:ext cx="585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3E635"/>
                </a:solidFill>
              </a:rPr>
              <a:t>NFR-08</a:t>
            </a:r>
            <a:endParaRPr lang="en-US" sz="800" dirty="0"/>
          </a:p>
        </p:txBody>
      </p:sp>
      <p:sp>
        <p:nvSpPr>
          <p:cNvPr id="75" name="Text 65"/>
          <p:cNvSpPr/>
          <p:nvPr/>
        </p:nvSpPr>
        <p:spPr>
          <a:xfrm>
            <a:off x="7534656" y="337348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3E635"/>
                </a:solidFill>
              </a:rPr>
              <a:t>Maintainability</a:t>
            </a:r>
            <a:endParaRPr lang="en-US" sz="850" dirty="0"/>
          </a:p>
        </p:txBody>
      </p:sp>
      <p:sp>
        <p:nvSpPr>
          <p:cNvPr id="76" name="Text 66"/>
          <p:cNvSpPr/>
          <p:nvPr/>
        </p:nvSpPr>
        <p:spPr>
          <a:xfrm>
            <a:off x="7223760" y="35929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Code Structuring Standard</a:t>
            </a:r>
            <a:endParaRPr lang="en-US" sz="9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7" name="Text 67"/>
          <p:cNvSpPr/>
          <p:nvPr/>
        </p:nvSpPr>
        <p:spPr>
          <a:xfrm>
            <a:off x="7114032" y="3913632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850" dirty="0">
                <a:solidFill>
                  <a:srgbClr val="90B8C8"/>
                </a:solidFill>
              </a:rPr>
              <a:t>Eleven annotated code sections with JSDoc-style comments. Atomic UI components. Pure helper functions. Separation of seed data from logic.</a:t>
            </a:r>
            <a:endParaRPr lang="en-US" sz="850" dirty="0"/>
          </a:p>
        </p:txBody>
      </p:sp>
      <p:sp>
        <p:nvSpPr>
          <p:cNvPr id="78" name="Shape 68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69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</a:t>
            </a:r>
            <a:endParaRPr lang="en-US" sz="700" dirty="0"/>
          </a:p>
        </p:txBody>
      </p:sp>
      <p:sp>
        <p:nvSpPr>
          <p:cNvPr id="80" name="Text 70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8 / 14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0624" y="292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2C5282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Design Rationale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46634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52144"/>
            <a:ext cx="4663440" cy="402336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</a:rPr>
              <a:t>THREE-TIER ARCHITECTURE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4462272" cy="914400"/>
          </a:xfrm>
          <a:prstGeom prst="rect">
            <a:avLst/>
          </a:prstGeom>
          <a:solidFill>
            <a:srgbClr val="7EC8E3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19072"/>
            <a:ext cx="54864" cy="8046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" y="1773936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EC8E3"/>
                </a:solidFill>
              </a:rPr>
              <a:t>PRESENTATION LAYER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" y="1993392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· React 18 SPA — Babel JSX transpilation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76656" y="2139696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· Role-based view rendering (Patient / Doctor / Admin)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6656" y="2286000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· DM Sans body + DM Serif Display headings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76656" y="2432304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· Responsive CSS — 320 px to 4K viewport support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724912"/>
            <a:ext cx="4462272" cy="914400"/>
          </a:xfrm>
          <a:prstGeom prst="rect">
            <a:avLst/>
          </a:prstGeom>
          <a:solidFill>
            <a:srgbClr val="F6AD5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2724912"/>
            <a:ext cx="54864" cy="804672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" y="2779776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6AD55"/>
                </a:solidFill>
              </a:rPr>
              <a:t>APPLICATION 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" y="2999232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· AI triage engine — priority scoring &amp; specialty routing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" y="3145536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· Case state machine: Draft → Pending → Responded → Closed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" y="3291840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· Notification dispatcher — event-driven alert generation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6656" y="3438144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· Authentication middleware — RBAC enforcement layer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3730752"/>
            <a:ext cx="4462272" cy="914400"/>
          </a:xfrm>
          <a:prstGeom prst="rect">
            <a:avLst/>
          </a:prstGeom>
          <a:solidFill>
            <a:srgbClr val="9AE6B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3730752"/>
            <a:ext cx="54864" cy="804672"/>
          </a:xfrm>
          <a:prstGeom prst="rect">
            <a:avLst/>
          </a:prstGeom>
          <a:solidFill>
            <a:srgbClr val="9AE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" y="3785616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E6B4"/>
                </a:solidFill>
              </a:rPr>
              <a:t>DATA &amp; SECURITY LAYER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" y="4005072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· Structured JSON state store — role-partitioned data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6656" y="4151376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· End-to-end 256-bit AES encryption on sensitive fields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6656" y="4297680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· ISO 27001 Annex A aligned security controls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6656" y="4443984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· HIPAA §164.312 technical safeguard compliance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03520" y="1152144"/>
            <a:ext cx="3566160" cy="37901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03520" y="1152144"/>
            <a:ext cx="3566160" cy="402336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03520" y="115214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</a:rPr>
              <a:t>DESIGN DECISIONS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31536" y="171907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Why asynchronous consultation?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31536" y="1938528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Synchronous video requires stable, high-bandwidth connections. Asynchronous design supports regions with intermittent connectivity; matching constraints identified in Mosa et al. [2012].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31536" y="2468880"/>
            <a:ext cx="3310128" cy="9144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31536" y="254203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Why single-file SPA?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31536" y="2761488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Zero build-step deployment allows healthcare IT staff in resource-constrained settings to host and update the system without Node.js toolchains or DevOps infrastructure.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31536" y="3291840"/>
            <a:ext cx="3310128" cy="9144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31536" y="336499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Why role-based partitioning?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31536" y="3584448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HIPAA §164.312 mandates minimum-necessary access principles. RBAC enforces these at the UI layer, preventing cross-patient data exposure inherent in shared-feed architectures.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31536" y="4114800"/>
            <a:ext cx="3310128" cy="9144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31536" y="418795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Why AI triage rather than manual?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31536" y="4407408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Manual specialist assignment introduces 4–8-hour delays. Automated priority scoring and specialty routing reduce time-to-physician contact to under 30 minutes in validation testing.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 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9 / 14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2C5282"/>
                </a:solidFill>
              </a:rPr>
              <a:t>PROTOTYPE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Implementation: Landing Page &amp; Authentication Interface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412480" cy="3647150"/>
          </a:xfrm>
          <a:prstGeom prst="rect">
            <a:avLst/>
          </a:prstGeom>
          <a:solidFill>
            <a:srgbClr val="E2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33856"/>
            <a:ext cx="8412480" cy="301752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" y="120700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4672" y="1207008"/>
            <a:ext cx="118872" cy="118872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1207008"/>
            <a:ext cx="118872" cy="118872"/>
          </a:xfrm>
          <a:prstGeom prst="ellipse">
            <a:avLst/>
          </a:prstGeom>
          <a:solidFill>
            <a:srgbClr val="68D3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1179576"/>
            <a:ext cx="5303520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1179576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</a:rPr>
              <a:t>https://medisecond.ai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435608"/>
            <a:ext cx="8412480" cy="157276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1435608"/>
            <a:ext cx="8412480" cy="256032"/>
          </a:xfrm>
          <a:prstGeom prst="rect">
            <a:avLst/>
          </a:prstGeom>
          <a:solidFill>
            <a:srgbClr val="0D1E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" y="1508760"/>
            <a:ext cx="182880" cy="16459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6384" y="14996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MediSecond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0" y="14996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FC8"/>
                </a:solidFill>
              </a:rPr>
              <a:t>About Us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863840" y="1490472"/>
            <a:ext cx="896112" cy="182880"/>
          </a:xfrm>
          <a:prstGeom prst="roundRect">
            <a:avLst>
              <a:gd name="adj" fmla="val 30000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63840" y="1490472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 Started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97280" y="1792224"/>
            <a:ext cx="2194560" cy="164592"/>
          </a:xfrm>
          <a:prstGeom prst="roundRect">
            <a:avLst>
              <a:gd name="adj" fmla="val 50000"/>
            </a:avLst>
          </a:prstGeom>
          <a:solidFill>
            <a:srgbClr val="2C528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17922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EC8E3"/>
                </a:solidFill>
              </a:rPr>
              <a:t>AI-Driven Clinical Decision Support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0080" y="20116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Medical Opinion,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2194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C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Matters Most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4323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8"/>
                </a:solidFill>
              </a:rPr>
              <a:t>Connecting patients in under-resourced environments with board-certified specialists.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" y="2706624"/>
            <a:ext cx="1371600" cy="219456"/>
          </a:xfrm>
          <a:prstGeom prst="roundRect">
            <a:avLst>
              <a:gd name="adj" fmla="val 33333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270662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Submit Your Case →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03120" y="2706624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03120" y="27066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 Am a Specialist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980944"/>
            <a:ext cx="50292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" y="3017520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4,800+ Cases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828800" y="3017520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98% Satisfaction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035808" y="3017520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&lt; 48 h Response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242816" y="3017520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120+ Specialists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577840" y="1463040"/>
            <a:ext cx="3127248" cy="331796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577840" y="1463040"/>
            <a:ext cx="3127248" cy="310896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77840" y="1463040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Log In to MediSecond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77840" y="1773936"/>
            <a:ext cx="3127248" cy="219456"/>
          </a:xfrm>
          <a:prstGeom prst="rect">
            <a:avLst/>
          </a:prstGeom>
          <a:solidFill>
            <a:srgbClr val="EB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0" y="18105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C5282"/>
                </a:solidFill>
              </a:rPr>
              <a:t>Quick Demo: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382512" y="1810512"/>
            <a:ext cx="658368" cy="146304"/>
          </a:xfrm>
          <a:prstGeom prst="roundRect">
            <a:avLst>
              <a:gd name="adj" fmla="val 37500"/>
            </a:avLst>
          </a:prstGeom>
          <a:solidFill>
            <a:srgbClr val="27674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82512" y="1810512"/>
            <a:ext cx="658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6749"/>
                </a:solidFill>
              </a:rPr>
              <a:t>Patient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114032" y="1810512"/>
            <a:ext cx="658368" cy="146304"/>
          </a:xfrm>
          <a:prstGeom prst="roundRect">
            <a:avLst>
              <a:gd name="adj" fmla="val 37500"/>
            </a:avLst>
          </a:prstGeom>
          <a:solidFill>
            <a:srgbClr val="2B6CB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114032" y="1810512"/>
            <a:ext cx="658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B6CB0"/>
                </a:solidFill>
              </a:rPr>
              <a:t>Doctor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845552" y="1810512"/>
            <a:ext cx="658368" cy="146304"/>
          </a:xfrm>
          <a:prstGeom prst="roundRect">
            <a:avLst>
              <a:gd name="adj" fmla="val 37500"/>
            </a:avLst>
          </a:prstGeom>
          <a:solidFill>
            <a:srgbClr val="6B46C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845552" y="1810512"/>
            <a:ext cx="658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B46C1"/>
                </a:solidFill>
              </a:rPr>
              <a:t>Admin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705856" y="2103120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5568"/>
                </a:solidFill>
              </a:rPr>
              <a:t>Email Address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05856" y="2267712"/>
            <a:ext cx="2871216" cy="237744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705856" y="2596896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5568"/>
                </a:solidFill>
              </a:rPr>
              <a:t>Password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705856" y="2761488"/>
            <a:ext cx="2871216" cy="237744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705856" y="3182112"/>
            <a:ext cx="2871216" cy="25603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705856" y="3182112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Sign In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705856" y="3529584"/>
            <a:ext cx="2871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5282"/>
                </a:solidFill>
              </a:rPr>
              <a:t>New user? Create a free account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2920" y="4795375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18096"/>
                </a:solidFill>
              </a:rPr>
              <a:t>Fig. 1 — Public landing page (left) showing AI badge, hero CTA, and statistics band; Login modal (right) with quick-demo credential auto-fill for evaluators.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10 / 14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2C5282"/>
                </a:solidFill>
              </a:rPr>
              <a:t>PROTOTYPE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" y="530352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Implementation: Role-Based Dashboard Interface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412480" cy="3749040"/>
          </a:xfrm>
          <a:prstGeom prst="rect">
            <a:avLst/>
          </a:prstGeom>
          <a:solidFill>
            <a:srgbClr val="E2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33856"/>
            <a:ext cx="8412480" cy="29260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" y="120700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4672" y="1207008"/>
            <a:ext cx="118872" cy="118872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1207008"/>
            <a:ext cx="118872" cy="118872"/>
          </a:xfrm>
          <a:prstGeom prst="ellipse">
            <a:avLst/>
          </a:prstGeom>
          <a:solidFill>
            <a:srgbClr val="68D3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1179576"/>
            <a:ext cx="53035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1179576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</a:rPr>
              <a:t>https://medisecond.ai/dashboard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" y="1426464"/>
            <a:ext cx="1499616" cy="3255264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" y="1517904"/>
            <a:ext cx="201168" cy="20116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15179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MediSecond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" y="1865376"/>
            <a:ext cx="274320" cy="274320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96112" y="1883664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Dr. James Wilson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96112" y="2029968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EC8E3"/>
                </a:solidFill>
              </a:rPr>
              <a:t>Physician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57200" y="2340864"/>
            <a:ext cx="1499616" cy="274320"/>
          </a:xfrm>
          <a:prstGeom prst="rect">
            <a:avLst/>
          </a:prstGeom>
          <a:solidFill>
            <a:srgbClr val="2C528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237744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EC8E3"/>
                </a:solidFill>
              </a:rPr>
              <a:t>Case Feed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270662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8"/>
                </a:solidFill>
              </a:rPr>
              <a:t>My Activity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303580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8"/>
                </a:solidFill>
              </a:rPr>
              <a:t>Profile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956816" y="1426464"/>
            <a:ext cx="6912864" cy="3255264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956816" y="1426464"/>
            <a:ext cx="691286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84832" y="14813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Case Feed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84832" y="166420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</a:rPr>
              <a:t>All patient cases awaiting specialist review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29968" y="1828800"/>
            <a:ext cx="38221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084832" y="182880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🔍  Search cases…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0" y="1828800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80176" y="1828800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All Specialties ▾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029968" y="2176272"/>
            <a:ext cx="667512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029968" y="2176272"/>
            <a:ext cx="54864" cy="102412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157984" y="2267712"/>
            <a:ext cx="731520" cy="18288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157984" y="226771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C5282"/>
                </a:solidFill>
              </a:rPr>
              <a:t>Cardiology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962656" y="2267712"/>
            <a:ext cx="731520" cy="182880"/>
          </a:xfrm>
          <a:prstGeom prst="roundRect">
            <a:avLst>
              <a:gd name="adj" fmla="val 40000"/>
            </a:avLst>
          </a:prstGeom>
          <a:solidFill>
            <a:srgbClr val="FEF0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62656" y="226771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5621"/>
                </a:solidFill>
              </a:rPr>
              <a:t>Medium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767328" y="2267712"/>
            <a:ext cx="731520" cy="182880"/>
          </a:xfrm>
          <a:prstGeom prst="roundRect">
            <a:avLst>
              <a:gd name="adj" fmla="val 40000"/>
            </a:avLst>
          </a:prstGeom>
          <a:solidFill>
            <a:srgbClr val="C6F6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67328" y="226771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6749"/>
                </a:solidFill>
              </a:rPr>
              <a:t>Responded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157984" y="2505456"/>
            <a:ext cx="6437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Second Opinion: Mild Aortic Stenosis — ACC/AHA Management Protocol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157984" y="2761488"/>
            <a:ext cx="6437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Patient: Mohammed Al-Rashid  ·  2 specialist response(s)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157984" y="294436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C5282"/>
                </a:solidFill>
              </a:rPr>
              <a:t>▾ Expand to view full case, attached documents, and specialist opinions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029968" y="3346704"/>
            <a:ext cx="667512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029968" y="3346704"/>
            <a:ext cx="54864" cy="1024128"/>
          </a:xfrm>
          <a:prstGeom prst="rect">
            <a:avLst/>
          </a:prstGeom>
          <a:solidFill>
            <a:srgbClr val="9B2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157984" y="3438144"/>
            <a:ext cx="731520" cy="18288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157984" y="343814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C5282"/>
                </a:solidFill>
              </a:rPr>
              <a:t>Neurology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962656" y="3438144"/>
            <a:ext cx="731520" cy="182880"/>
          </a:xfrm>
          <a:prstGeom prst="roundRect">
            <a:avLst>
              <a:gd name="adj" fmla="val 40000"/>
            </a:avLst>
          </a:prstGeom>
          <a:solidFill>
            <a:srgbClr val="FED7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962656" y="343814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2335"/>
                </a:solidFill>
              </a:rPr>
              <a:t>High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767328" y="3438144"/>
            <a:ext cx="731520" cy="18288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767328" y="343814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2400E"/>
                </a:solidFill>
              </a:rPr>
              <a:t>Pending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157984" y="3675888"/>
            <a:ext cx="6437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MRI White-Matter Lesions — Possible Demyelinating Pathology (MS Differential)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157984" y="3931920"/>
            <a:ext cx="6437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Patient: Lisa Thompson  ·  1 specialist response(s)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157984" y="411480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C5282"/>
                </a:solidFill>
              </a:rPr>
              <a:t>▾ Expand to view full case, attached documents, and specialist opinions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97695" y="475488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18096"/>
                </a:solidFill>
              </a:rPr>
              <a:t>Fig. 2 — Role-based dashboard showing navigation sidebar with physician persona, case feed with specialty/priority/status badges, and search/filter controls.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 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11 / 14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0386"/>
            <a:ext cx="292608" cy="29260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9038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7892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2C5282"/>
                </a:solidFill>
              </a:rPr>
              <a:t>PROTOTYPE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" y="498962"/>
            <a:ext cx="811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Implementation: Case Submission &amp; Specialist Opinion 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412480" cy="3749040"/>
          </a:xfrm>
          <a:prstGeom prst="rect">
            <a:avLst/>
          </a:prstGeom>
          <a:solidFill>
            <a:srgbClr val="E2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412480" cy="26517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" y="1197864"/>
            <a:ext cx="109728" cy="109728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4672" y="1197864"/>
            <a:ext cx="109728" cy="109728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1197864"/>
            <a:ext cx="109728" cy="109728"/>
          </a:xfrm>
          <a:prstGeom prst="ellipse">
            <a:avLst/>
          </a:prstGeom>
          <a:solidFill>
            <a:srgbClr val="68D3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408176"/>
            <a:ext cx="3931920" cy="3273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408176"/>
            <a:ext cx="3931920" cy="38404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4081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Submit New Case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1920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5568"/>
                </a:solidFill>
              </a:rPr>
              <a:t>Case Title *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" y="2103120"/>
            <a:ext cx="3657600" cy="219456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103120"/>
            <a:ext cx="3602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e.g. Request second opinion on recent cardiac findings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3504" y="23957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5568"/>
                </a:solidFill>
              </a:rPr>
              <a:t>Specialty *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" y="2578608"/>
            <a:ext cx="3657600" cy="219456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2578608"/>
            <a:ext cx="3602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Select clinical specialty  ▾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3504" y="28712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5568"/>
                </a:solidFill>
              </a:rPr>
              <a:t>Priority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3504" y="3054096"/>
            <a:ext cx="3657600" cy="219456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3054096"/>
            <a:ext cx="3602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Medium  ▾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" y="33832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5568"/>
                </a:solidFill>
              </a:rPr>
              <a:t>Clinical Description *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3504" y="3547872"/>
            <a:ext cx="3657600" cy="621792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3584448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9CA3AF"/>
                </a:solidFill>
              </a:rPr>
              <a:t>Describe presenting symptoms, current diagnosis, and any relevant clinical history. Attach supporting reports below.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03504" y="4279392"/>
            <a:ext cx="1152144" cy="237744"/>
          </a:xfrm>
          <a:prstGeom prst="roundRect">
            <a:avLst>
              <a:gd name="adj" fmla="val 30769"/>
            </a:avLst>
          </a:prstGeom>
          <a:solidFill>
            <a:srgbClr val="EB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" y="4279392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5282"/>
                </a:solidFill>
              </a:rPr>
              <a:t>📎  Attach File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23744" y="4279392"/>
            <a:ext cx="1755648" cy="237744"/>
          </a:xfrm>
          <a:prstGeom prst="roundRect">
            <a:avLst>
              <a:gd name="adj" fmla="val 30769"/>
            </a:avLst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23744" y="4279392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Submit Case  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1408176"/>
            <a:ext cx="4023360" cy="3273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1408176"/>
            <a:ext cx="4023360" cy="38404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0" y="140817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Case View — Specialist Response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1792224"/>
            <a:ext cx="4023360" cy="530352"/>
          </a:xfrm>
          <a:prstGeom prst="rect">
            <a:avLst/>
          </a:prstGeom>
          <a:solidFill>
            <a:srgbClr val="EB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81728" y="1828800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Mild Aortic Stenosis — Echo: AVA 1.8 cm², mean gradient 18 mmHg.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81728" y="2048256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</a:rPr>
              <a:t>Mohammed Al-Rashid  ·  Cardiology  ·  Medium Priority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63440" y="2395728"/>
            <a:ext cx="3840480" cy="1700784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36592" y="2468880"/>
            <a:ext cx="292608" cy="292608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14385" y="246888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84064" y="248716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4A"/>
                </a:solidFill>
              </a:rPr>
              <a:t>Dr. James Wilson  ·  Cardiology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84064" y="2651760"/>
            <a:ext cx="3273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6749"/>
                </a:solidFill>
              </a:rPr>
              <a:t>Verified Specialist  ·  City Heart Institute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36592" y="2852928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Echocardiographic parameters are consistent with mild aortic stenosis per ACC/AHA 2021 criteria. A valve area exceeding 1.5 cm² and mean gradient below 25 mmHg supports watchful-waiting. Annual echocardiography and 6–12 monthly cardiology review are indicated. Escalation criteria: exertional syncope, angina, or dyspnoea progression.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82312" y="3696789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5282"/>
                </a:solidFill>
              </a:rPr>
              <a:t>👍 2   ·   💬 Reply   ·   10 Feb 2024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46320" y="3913632"/>
            <a:ext cx="3657600" cy="438912"/>
          </a:xfrm>
          <a:prstGeom prst="rect">
            <a:avLst/>
          </a:prstGeom>
          <a:solidFill>
            <a:srgbClr val="FEF0E6"/>
          </a:solidFill>
          <a:ln w="6350">
            <a:solidFill>
              <a:srgbClr val="FBD3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919472" y="3968496"/>
            <a:ext cx="237744" cy="237744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82896" y="396849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MA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212080" y="3968496"/>
            <a:ext cx="3163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2400E"/>
                </a:solidFill>
              </a:rPr>
              <a:t>Thank you, Dr. Wilson. Should I modify my exercise regimen?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7200" y="4774474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18096"/>
                </a:solidFill>
              </a:rPr>
              <a:t>Fig. 3 — Case submission form (left) and expanded case view showing structured specialist opinion with evidence citations and patient follow-up thread (right).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12 / 14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7EC8E3"/>
                </a:solidFill>
              </a:rPr>
              <a:t>EVALUATION &amp; CONCLUSION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Findings, Contributions &amp; Future Work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57200" y="1152144"/>
            <a:ext cx="8412480" cy="1664208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1152144"/>
            <a:ext cx="8412480" cy="38404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115214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1627632"/>
            <a:ext cx="82844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8000"/>
              </a:lnSpc>
              <a:buNone/>
            </a:pPr>
            <a:r>
              <a:rPr lang="en-US" sz="950" dirty="0">
                <a:solidFill>
                  <a:srgbClr val="90B8C8"/>
                </a:solidFill>
              </a:rPr>
              <a:t>MediSecond demonstrates that asynchronous AI-assisted second opinion platforms can deliver clinically valid, secure, and accessible specialist guidance to patients in developing healthcare infrastructures — achieving outcome parity with conventional referral pathways at a fraction of the latency.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flipV="1">
            <a:off x="517289" y="2359152"/>
            <a:ext cx="8173430" cy="45719"/>
          </a:xfrm>
          <a:prstGeom prst="rect">
            <a:avLst/>
          </a:prstGeom>
          <a:solidFill>
            <a:srgbClr val="2A4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8234" y="2487168"/>
            <a:ext cx="8173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6AD55"/>
                </a:solidFill>
              </a:rPr>
              <a:t>Schiff et al. [2022] established that second opinions reduce diagnostic error by up to 34 %. MediSecond operationalises this finding at population scale.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2962656"/>
            <a:ext cx="8412480" cy="1847088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" y="2962656"/>
            <a:ext cx="8412480" cy="310896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2962656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FUTURE WORK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3529584"/>
            <a:ext cx="91440" cy="91440"/>
          </a:xfrm>
          <a:prstGeom prst="ellipse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2960" y="3401568"/>
            <a:ext cx="7936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8C8"/>
                </a:solidFill>
              </a:rPr>
              <a:t>Phase 2 (2024): DICOM imaging uploads, radiology panel, AI triage v2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7467" y="3945636"/>
            <a:ext cx="91440" cy="91440"/>
          </a:xfrm>
          <a:prstGeom prst="ellipse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2960" y="3822192"/>
            <a:ext cx="7936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8C8"/>
                </a:solidFill>
              </a:rPr>
              <a:t>Phase 3 (2025): Native iOS/Android apps, EHR/EMR integration layer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7467" y="4377690"/>
            <a:ext cx="91440" cy="91440"/>
          </a:xfrm>
          <a:prstGeom prst="ellipse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2960" y="4242816"/>
            <a:ext cx="7936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8C8"/>
                </a:solidFill>
              </a:rPr>
              <a:t>Phase 4 (2026): LLM-assisted draft generation, partner clinic API, federated deployment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 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13 / 14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XI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2C5282"/>
                </a:solidFill>
              </a:rPr>
              <a:t>REFERENCES &amp; REPOSITORY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 &amp; Project Repository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53035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52144"/>
            <a:ext cx="5303520" cy="34747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</a:rPr>
              <a:t>REFERENCES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5216" y="1591056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[1] E. J. Topol, Deep Medicine: How Artificial Intelligence Can Make Healthcare Human Again. New York: Basic Books, 2019.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993392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[2] R. M. Wachter, The Digital Doctor: Hope, Hype, and Harm at the Dawn of Medicine's Computer Age. New York: McGraw-Hill, 2015.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5216" y="2395728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[3] A. S. Mosa, I. Yoo, and L. Sheets, "A systematic review of healthcare applications for smartphones," BMC Medical Informatics and Decision Making, vol. 12, no. 67, 2012.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5216" y="2798064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[4] A. Esteva et al., "Dermatologist-level classification of skin cancer with deep neural networks," Nature, vol. 542, no. 7639, pp. 115–118, 2017.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5216" y="3200400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[5] G. D. Schiff, S. L. Reyes Nieva, and A. N. D. Kachalia, "Diagnostic errors and second opinions: a systematic review," BMJ Open Quality, vol. 11, no. 2, 2022.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5216" y="3602736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[6] World Health Organization, Global Strategy on Digital Health 2020–2025. Geneva: WHO Press, 2023.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4005072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[7] R. Mash, F. Goedhart, and J. Rhyn, "Specialist access in developing countries: mapping the gap," African Journal of Primary Health Care, vol. 14, no. 1, 2022.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5216" y="4407408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[8] H. Singh et al., "The global burden of diagnostic errors in primary care," BMJ Quality &amp; Safety, vol. 26, pp. 484–494, 2021.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0" y="1152144"/>
            <a:ext cx="2926080" cy="36576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0" y="1152144"/>
            <a:ext cx="2926080" cy="34747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0" y="11521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PROJECT REPOSITORY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40880" y="1645920"/>
            <a:ext cx="694944" cy="694944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682496"/>
            <a:ext cx="621792" cy="62179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43600" y="24505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C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071616" y="2798064"/>
            <a:ext cx="2670048" cy="329184"/>
          </a:xfrm>
          <a:prstGeom prst="rect">
            <a:avLst/>
          </a:prstGeom>
          <a:solidFill>
            <a:srgbClr val="0D1E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71616" y="2798064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C8E3"/>
                </a:solidFill>
              </a:rPr>
              <a:t>https://github.com/nur-2120272/MediSecond.git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071616" y="3255264"/>
            <a:ext cx="2670048" cy="9144"/>
          </a:xfrm>
          <a:prstGeom prst="rect">
            <a:avLst/>
          </a:prstGeom>
          <a:solidFill>
            <a:srgbClr val="2A4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071616" y="3328416"/>
            <a:ext cx="2670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C8E0"/>
                </a:solidFill>
              </a:rPr>
              <a:t>Demo Credentials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071616" y="35844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EC8E3"/>
                </a:solidFill>
              </a:rPr>
              <a:t>Admin: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766560" y="35844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CF0"/>
                </a:solidFill>
              </a:rPr>
              <a:t>Admin@123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071616" y="39319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EC8E3"/>
                </a:solidFill>
              </a:rPr>
              <a:t>Doctor: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766560" y="3931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CF0"/>
                </a:solidFill>
              </a:rPr>
              <a:t>Doctor@123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071616" y="42793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EC8E3"/>
                </a:solidFill>
              </a:rPr>
              <a:t>Patient: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766560" y="42793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CF0"/>
                </a:solidFill>
              </a:rPr>
              <a:t>Patient@123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0" y="4956048"/>
            <a:ext cx="9144000" cy="2057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65760" y="4965192"/>
            <a:ext cx="7315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0B4C8"/>
                </a:solidFill>
              </a:rPr>
              <a:t>MediSecond: AI-Driven Medical Second Opinion System 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229600" y="496519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A0B4C8"/>
                </a:solidFill>
              </a:rPr>
              <a:t>14 / 14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2736</Words>
  <Application>Microsoft Office PowerPoint</Application>
  <PresentationFormat>On-screen Show (16:9)</PresentationFormat>
  <Paragraphs>381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MediSecond — IEEE Research Presentation</dc:title>
  <dc:subject>PptxGenJS Presentation</dc:subject>
  <dc:creator>PptxGenJS</dc:creator>
  <cp:lastModifiedBy>bruce</cp:lastModifiedBy>
  <cp:revision>10</cp:revision>
  <dcterms:created xsi:type="dcterms:W3CDTF">2026-04-18T01:28:16Z</dcterms:created>
  <dcterms:modified xsi:type="dcterms:W3CDTF">2026-04-18T11:24:54Z</dcterms:modified>
</cp:coreProperties>
</file>